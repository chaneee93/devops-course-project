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신청 결과</c:v>
                </c:pt>
              </c:strCache>
            </c:strRef>
          </c:tx>
          <c:spPr>
            <a:solidFill>
              <a:srgbClr val="00C39A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A7A8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성공(30)</c:v>
                  </c:pt>
                  <c:pt idx="1">
                    <c:v>정원마감(70)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DEVOPS PORTFOLIO ·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수강신청 시스템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동시성 · Kubernetes · IaC · CI/CD · 모니터링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886200"/>
            <a:ext cx="4206240" cy="566928"/>
          </a:xfrm>
          <a:prstGeom prst="roundRect">
            <a:avLst>
              <a:gd name="adj" fmla="val 16129"/>
            </a:avLst>
          </a:prstGeom>
          <a:solidFill>
            <a:srgbClr val="00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8862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02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Local-First,  Cloud-Ready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github.com/chaneee93/devops-course-project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소개 &amp; 목표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수강신청 폭주 시 정원 초과(오버부킹)와 시스템 다운 위험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인증·배포·모니터링까지 실서비스급으로 다뤄야 함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비용 부담 없이 실전 DevOps를 검증할 방법 필요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519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 정합성 보장 — 오버부킹 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장애에도 무중단 — 자가복구 가능한 구조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로컬로 완성하되 terraform apply로 AWS 이식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75120" y="178308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F3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03720" y="19202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M1–M10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2532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완주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315468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F3F6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03720" y="3291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오버부킹 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3904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100명 실측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452628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F3F6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03720" y="46634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5276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Pod 장애 자동복구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아키텍처: 로컬 vs AWS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69080" y="169164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06908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(검증 완료)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0" y="169164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5A6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6384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(Terraform)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10881360" cy="566928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2860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오케스트레이션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22860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minikube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22860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852928"/>
            <a:ext cx="10881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529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28529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(compose)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28529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19856"/>
            <a:ext cx="10881360" cy="566928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4198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/ 분산락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341985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(compose)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341985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ElastiCache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986784"/>
            <a:ext cx="10881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39867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(OIDC)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160520" y="398678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Keycloak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98678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Cognito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553712"/>
            <a:ext cx="10881360" cy="566928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5537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레지스트리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160520" y="455371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Hub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455371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120640"/>
            <a:ext cx="10881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120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노출 / TLS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160520" y="51206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Ingress-nginx + self-signed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51206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ALB + ACM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5687568"/>
            <a:ext cx="10881360" cy="566928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56875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프론트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160520" y="56875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/ nginx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955280" y="56875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+ CloudFront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그대로 — 바뀌는 건 주소(env)와 인프라 매니페스트뿐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CORE TECH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00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 제어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71800"/>
            <a:ext cx="2880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비관적락(SELECT FOR UPDATE) = 최종 방어선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분산락(Redisson)으로 경합·부하 완화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100명 → 오버부킹 0 실측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CI/CD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971800"/>
            <a:ext cx="2880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Actions: 테스트 + 이미지 빌드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push → Kubernetes 롤아웃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OIDC → IAM Role (키리스 인증)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/ 운영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971800"/>
            <a:ext cx="2880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kube-prometheus-stack (Prometheus + Grafana)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Actuator 메트릭 ServiceMonitor 스크랩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HPA · PDB · probe로 자동 스케일/복구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트러블슈팅 하이라이트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F3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75688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928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언더부킹 (7/30)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92808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A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 WAIT_TIME 3초로 유효 요청까지 빠르게 튕김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재시도 반영 → 30/30 충족, 오버부킹은 여전히 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F3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246120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OIDC issuer 불일치 (401)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0632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A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iss(localhost) ≠ 백엔드 기대(host.minikube.internal)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프론트·백엔드 Keycloak 주소 통일로 검증 통과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23944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F3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416552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336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 풀 → WSL 읽기전용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4233672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A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디스크 고갈로 파일시스템 read-only 전환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 VM·이미지 정리로 공간 확보 후 복구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294376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F3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586984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586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40410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TLS 인증서 검증 함정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5404104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A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curl -H Host 는 TLS SNI 미전송 → 가짜 인증서로 보임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--resolve 로 SNI 포함 → 실제 CN 확인 (설정 문제 아님)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시나리오 &amp; 성과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E2E 흐름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12848" y="21031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50592" y="210312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50592" y="2103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1031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61104" y="210312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61104" y="2103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강의목록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33872" y="21031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71616" y="210312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71616" y="2103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수강신청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644384" y="21031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882128" y="210312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82128" y="2103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454896" y="21031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92640" y="210312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2103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수강취소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테스트: 100명 → 정원 30</a:t>
            </a:r>
            <a:endParaRPr lang="en-US" sz="16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40080" y="352044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630936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복구 (M9-4)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309360" y="3566160"/>
            <a:ext cx="5212080" cy="566928"/>
          </a:xfrm>
          <a:prstGeom prst="roundRect">
            <a:avLst>
              <a:gd name="adj" fmla="val 8065"/>
            </a:avLst>
          </a:prstGeom>
          <a:solidFill>
            <a:srgbClr val="F3F6FB"/>
          </a:solidFill>
          <a:ln/>
        </p:spPr>
      </p:sp>
      <p:sp>
        <p:nvSpPr>
          <p:cNvPr id="26" name="Shape 23"/>
          <p:cNvSpPr/>
          <p:nvPr/>
        </p:nvSpPr>
        <p:spPr>
          <a:xfrm>
            <a:off x="6446520" y="3739896"/>
            <a:ext cx="219456" cy="219456"/>
          </a:xfrm>
          <a:prstGeom prst="ellipse">
            <a:avLst/>
          </a:prstGeom>
          <a:solidFill>
            <a:srgbClr val="00C39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812280" y="35661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Pod 강제 kill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8686800" y="35661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 (성공 50/50), 자동 재생성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309360" y="4224528"/>
            <a:ext cx="5212080" cy="566928"/>
          </a:xfrm>
          <a:prstGeom prst="roundRect">
            <a:avLst>
              <a:gd name="adj" fmla="val 8065"/>
            </a:avLst>
          </a:prstGeom>
          <a:solidFill>
            <a:srgbClr val="F3F6FB"/>
          </a:solidFill>
          <a:ln/>
        </p:spPr>
      </p:sp>
      <p:sp>
        <p:nvSpPr>
          <p:cNvPr id="30" name="Shape 27"/>
          <p:cNvSpPr/>
          <p:nvPr/>
        </p:nvSpPr>
        <p:spPr>
          <a:xfrm>
            <a:off x="6446520" y="4398264"/>
            <a:ext cx="219456" cy="219456"/>
          </a:xfrm>
          <a:prstGeom prst="ellipse">
            <a:avLst/>
          </a:prstGeom>
          <a:solidFill>
            <a:srgbClr val="00C39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812280" y="42245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재시작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42245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~2초 후 커넥션풀 자동 복구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09360" y="4882896"/>
            <a:ext cx="5212080" cy="566928"/>
          </a:xfrm>
          <a:prstGeom prst="roundRect">
            <a:avLst>
              <a:gd name="adj" fmla="val 8065"/>
            </a:avLst>
          </a:prstGeom>
          <a:solidFill>
            <a:srgbClr val="F3F6FB"/>
          </a:solidFill>
          <a:ln/>
        </p:spPr>
      </p:sp>
      <p:sp>
        <p:nvSpPr>
          <p:cNvPr id="34" name="Shape 31"/>
          <p:cNvSpPr/>
          <p:nvPr/>
        </p:nvSpPr>
        <p:spPr>
          <a:xfrm>
            <a:off x="6446520" y="5056632"/>
            <a:ext cx="219456" cy="219456"/>
          </a:xfrm>
          <a:prstGeom prst="ellipse">
            <a:avLst/>
          </a:prstGeom>
          <a:solidFill>
            <a:srgbClr val="00C39A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812280" y="48828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재시작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8686800" y="4882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Redisson 분산락 자동 재연결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09360" y="5541264"/>
            <a:ext cx="5212080" cy="566928"/>
          </a:xfrm>
          <a:prstGeom prst="roundRect">
            <a:avLst>
              <a:gd name="adj" fmla="val 8065"/>
            </a:avLst>
          </a:prstGeom>
          <a:solidFill>
            <a:srgbClr val="F3F6FB"/>
          </a:solidFill>
          <a:ln/>
        </p:spPr>
      </p:sp>
      <p:sp>
        <p:nvSpPr>
          <p:cNvPr id="38" name="Shape 35"/>
          <p:cNvSpPr/>
          <p:nvPr/>
        </p:nvSpPr>
        <p:spPr>
          <a:xfrm>
            <a:off x="6446520" y="5715000"/>
            <a:ext cx="219456" cy="219456"/>
          </a:xfrm>
          <a:prstGeom prst="ellipse">
            <a:avLst/>
          </a:prstGeom>
          <a:solidFill>
            <a:srgbClr val="00C39A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812280" y="55412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cordon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8686800" y="55412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PDB로 최소 1개 유지 → 무중단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RETROSPECTIVE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 &amp; 향후 계획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로컬만으로 실전급 DevOps 전 과정을 검증할 수 있다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 튜닝은 트레이드오프 — 빠른 실패 vs 충족률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"느낌"이 아니라 부하·메트릭으로 측정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IaC로 재현 가능한 인프라의 가치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37744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EKS 멀티노드 배포 → 진짜 노드 drain 재배치 검증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ArgoCD 도입 → GitOps 배포 자동화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Cognito 실연동 + Alertmanager 알람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 파라미터 외부화(env)로 무재배포 튜닝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수강신청 시스템 — Local-First, Cloud-Ready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297680"/>
            <a:ext cx="594360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2976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github.com/chaneee93/devops-course-project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2026-09-01T05:35:26Z</dcterms:created>
  <dcterms:modified xsi:type="dcterms:W3CDTF">2026-09-01T05:35:26Z</dcterms:modified>
</cp:coreProperties>
</file>